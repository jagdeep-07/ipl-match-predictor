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68" r:id="rId15"/>
    <p:sldId id="269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9373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Deep learning hyperparameter optimization applied to IPL match prediction. TensorFlow/Keras MLP, comparing Random Search vs Bayesian Optimization (Optuna).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Motivation. IPL as a challenging tabular prediction task. Why hyperparameter tuning matters for neural nets. Value of comparing Random Search to Bayesian Optimization.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328 matches is the working sample after filtering, not the full IPL dataset. Pre-match features only. Majority class ~51.8%, so baseline accuracy is near coin-flip.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Chronological split, NOT random. Oldest 70% train, next 15% val, newest 15% test. Seed 42 is for model reproducibility, not for the data split.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Baseline: 2-layer MLP. Dropout=0.2 (NOT 0.3). Epochs=60 (NOT 50). Early stopping on val_auc. Evaluation uses 6 metrics. This is the reference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Search space corrected: LR up to 3e-2, batch includes 16, dropout is categorical not continuous. Seed 42 for model reproducibility.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Random Search slightly faster (173s vs 188s) and achieved better validation accuracy (0.6012 vs 0.5644) and ROC-AUC (0.5792 vs 0.5694). With only 50 trials on a small search space, Random Search's broad sampling found a strong configuration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fundamentally different strategies. Random Search: lean/regularized. Optuna: large/aggressive. Both agreed on batch size 128.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single model wins everything. Random Search best on accuracy, baseline best on ROC-AUC and log loss, Optuna best on F1/recall. Optimization shifted tradeoffs, not absolute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ROC, PR, and confusion matrices. Baseline best at ranking. Optuna most aggressive at positive detection. Random Search most balanced.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Ablation: optimizer and regularization fundamentally change model behavior, not just accuracy. SGD without regularization → near-all-positive predictor.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SHAP language softened. 'Captures temporal evolution' → 'acts as a strong temporal proxy.' 'Team form matters most' → 'prior form appears most relevant.' No causal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0D994-BDB8-D995-DA54-A60F95E63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81D4E8-4494-BCED-4460-A0F8E76FB7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33EDCA-6B7B-9964-F4C6-B8895F1114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SHAP language softened. 'Captures temporal evolution' → 'acts as a strong temporal proxy.' 'Team form matters most' → 'prior form appears most relevant.' No causal claims.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1E1607-BAD1-6C1D-AAE0-91685094CC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0620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Venue analysis based on test split only. No speculation about venue characteristics. Delhi hardest to predict (66.7% error, 12 matches). Small-sample venues noted for low confidence.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conclusion. Baseline still leads on some metrics. Optimization changed tradeoffs, not absolute quality. Future: richer features and stronger model families.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Learning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Hyperparameter Optimization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423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B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IPL Match Winner Prediction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3108960"/>
            <a:ext cx="3200400" cy="0"/>
          </a:xfrm>
          <a:prstGeom prst="line">
            <a:avLst/>
          </a:prstGeom>
          <a:noFill/>
          <a:ln w="254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640080" y="33375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Jagdeep  |  AI &amp; Applied ML  |  Fanshawe College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Optimization Project  |  April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0" y="3474720"/>
            <a:ext cx="1097280" cy="1097280"/>
          </a:xfrm>
          <a:prstGeom prst="ellipse">
            <a:avLst/>
          </a:prstGeom>
          <a:solidFill>
            <a:srgbClr val="00BFA6">
              <a:alpha val="85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7955280" y="3657600"/>
            <a:ext cx="731520" cy="731520"/>
          </a:xfrm>
          <a:prstGeom prst="ellipse">
            <a:avLst/>
          </a:prstGeom>
          <a:solidFill>
            <a:srgbClr val="3B82F6">
              <a:alpha val="75000"/>
            </a:srgbClr>
          </a:solidFill>
          <a:ln/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 &amp; Motivation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51760" cy="3474720"/>
          </a:xfrm>
          <a:prstGeom prst="rect">
            <a:avLst/>
          </a:prstGeom>
          <a:solidFill>
            <a:srgbClr val="1822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3716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057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IPL Prediction?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256032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High-profile T20 league with complex match dynamics. Outcome depends on team form, venue, toss, and seasonal patterns — a challenging tabular classification task.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3291840" y="1143000"/>
            <a:ext cx="2651760" cy="3474720"/>
          </a:xfrm>
          <a:prstGeom prst="rect">
            <a:avLst/>
          </a:prstGeom>
          <a:solidFill>
            <a:srgbClr val="1822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371600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74720" y="2057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Optimization?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3474720" y="256032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are sensitive to hyperparameters. Default settings often leave performance on the table. Systematic tuning can shift the precision-recall tradeoff significantly.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126480" y="1143000"/>
            <a:ext cx="2651760" cy="3474720"/>
          </a:xfrm>
          <a:prstGeom prst="rect">
            <a:avLst/>
          </a:prstGeom>
          <a:solidFill>
            <a:srgbClr val="1822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1371600"/>
            <a:ext cx="548640" cy="5486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309360" y="2057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Compare Methods?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6309360" y="256032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Search samples broadly. Bayesian Optimization (Optuna) learns from prior trials. Comparing them reveals whether guided search outperforms brute-force exploration on this problem.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&amp; Prediction Setup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572000" cy="3657600"/>
          </a:xfrm>
          <a:prstGeom prst="rect">
            <a:avLst/>
          </a:prstGeom>
          <a:solidFill>
            <a:srgbClr val="1822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801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Overview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85800" y="182880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(Kaggle) IPL match-level dataset spanning seasons(2008-2024)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328 matches retained as the working sample after filtering incomplete records and building historical features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target: predict match winner (team1 win = 1)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Pre-match features only — no in-match or post-match columns used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season year, month, toss winner/decision, city/venue, team prior win rates, head-to-head records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Post-match columns (winner, MOTM, result margin) excluded from feature set to avoid data leakage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303520" y="1097280"/>
            <a:ext cx="3383280" cy="777240"/>
          </a:xfrm>
          <a:prstGeom prst="rect">
            <a:avLst/>
          </a:prstGeom>
          <a:solidFill>
            <a:srgbClr val="1822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Text 5"/>
          <p:cNvSpPr/>
          <p:nvPr/>
        </p:nvSpPr>
        <p:spPr>
          <a:xfrm>
            <a:off x="5440680" y="11430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328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858000" y="11430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Sample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303520" y="2011680"/>
            <a:ext cx="3383280" cy="777240"/>
          </a:xfrm>
          <a:prstGeom prst="rect">
            <a:avLst/>
          </a:prstGeom>
          <a:solidFill>
            <a:srgbClr val="1822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Text 8"/>
          <p:cNvSpPr/>
          <p:nvPr/>
        </p:nvSpPr>
        <p:spPr>
          <a:xfrm>
            <a:off x="5440680" y="20574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51.8%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858000" y="20574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Class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303520" y="2926080"/>
            <a:ext cx="3383280" cy="777240"/>
          </a:xfrm>
          <a:prstGeom prst="rect">
            <a:avLst/>
          </a:prstGeom>
          <a:solidFill>
            <a:srgbClr val="1822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4" name="Text 11"/>
          <p:cNvSpPr/>
          <p:nvPr/>
        </p:nvSpPr>
        <p:spPr>
          <a:xfrm>
            <a:off x="5440680" y="29718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Pre-Match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858000" y="29718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Features Only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303520" y="3840480"/>
            <a:ext cx="3383280" cy="777240"/>
          </a:xfrm>
          <a:prstGeom prst="rect">
            <a:avLst/>
          </a:prstGeom>
          <a:solidFill>
            <a:srgbClr val="1822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7" name="Text 14"/>
          <p:cNvSpPr/>
          <p:nvPr/>
        </p:nvSpPr>
        <p:spPr>
          <a:xfrm>
            <a:off x="5440680" y="38862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Seed 42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858000" y="38862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Preprocessing &amp; Feature Engineering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2011680" cy="2286000"/>
          </a:xfrm>
          <a:prstGeom prst="rect">
            <a:avLst/>
          </a:prstGeom>
          <a:solidFill>
            <a:srgbClr val="1822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1051560" y="1234440"/>
            <a:ext cx="548640" cy="548640"/>
          </a:xfrm>
          <a:prstGeom prst="ellipse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105156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1920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23317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values, remove post-match columns, standardize franchise names across seasons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60320" y="1097280"/>
            <a:ext cx="2011680" cy="2286000"/>
          </a:xfrm>
          <a:prstGeom prst="rect">
            <a:avLst/>
          </a:prstGeom>
          <a:solidFill>
            <a:srgbClr val="1822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3246120" y="1234440"/>
            <a:ext cx="548640" cy="548640"/>
          </a:xfrm>
          <a:prstGeom prst="ellipse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324612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697480" y="1920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Encode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697480" y="23317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encode categoricals (teams, city, venue, toss decision). Numeric features kept as-is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2011680" cy="2286000"/>
          </a:xfrm>
          <a:prstGeom prst="rect">
            <a:avLst/>
          </a:prstGeom>
          <a:solidFill>
            <a:srgbClr val="1822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5440680" y="1234440"/>
            <a:ext cx="548640" cy="548640"/>
          </a:xfrm>
          <a:prstGeom prst="ellipse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544068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92040" y="1920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92040" y="23317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on numeric features for stable gradient descent and fair regularization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949440" y="1097280"/>
            <a:ext cx="2011680" cy="2286000"/>
          </a:xfrm>
          <a:prstGeom prst="rect">
            <a:avLst/>
          </a:prstGeom>
          <a:solidFill>
            <a:srgbClr val="1822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9" name="Shape 17"/>
          <p:cNvSpPr/>
          <p:nvPr/>
        </p:nvSpPr>
        <p:spPr>
          <a:xfrm>
            <a:off x="7635240" y="1234440"/>
            <a:ext cx="548640" cy="548640"/>
          </a:xfrm>
          <a:prstGeom prst="ellipse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763524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086600" y="1920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Split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86600" y="23317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split: oldest 70% train, next 15% validation, newest 15% test — simulates real forecasting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1C2A4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640080" y="37947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preprocessing matters for optimization: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411480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scaling ensures gradient-based optimizers converge reliably across different learning rates and architectures. Without it, hyperparameter search results become noisy and unreproducible.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Baseline Model &amp;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5956"/>
            <a:ext cx="4206240" cy="3794760"/>
          </a:xfrm>
          <a:prstGeom prst="rect">
            <a:avLst/>
          </a:prstGeom>
          <a:solidFill>
            <a:srgbClr val="1822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8872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Keras MLP Architecture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173736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→ Dense(64, ReLU) → Dropout(0.2)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Dense(32, ReLU) → Dropout(0.2)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Dense(1, Sigmoid)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Loss: Binary Cross-Entropy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Optimizer: Adam (lr = 1e-3)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Epochs: up to 60 with Early Stopping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Early stop monitor: Validation AUC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Evaluated on: Acc, F1, ROC-AUC,Precision, Recall, Log Loss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892040" y="1051560"/>
            <a:ext cx="3931920" cy="2560320"/>
          </a:xfrm>
          <a:prstGeom prst="rect">
            <a:avLst/>
          </a:prstGeom>
          <a:solidFill>
            <a:srgbClr val="1822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8" name="Image 1" descr="/home/claude/ipl_outputs/baseline_loss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143000"/>
            <a:ext cx="3657600" cy="2057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training / validation loss curve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4892040" y="3749040"/>
            <a:ext cx="3931920" cy="1097280"/>
          </a:xfrm>
          <a:prstGeom prst="rect">
            <a:avLst/>
          </a:prstGeom>
          <a:solidFill>
            <a:srgbClr val="1C2A4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1" name="Text 7"/>
          <p:cNvSpPr/>
          <p:nvPr/>
        </p:nvSpPr>
        <p:spPr>
          <a:xfrm>
            <a:off x="5029200" y="3794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MLP for tabular data?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029200" y="4114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MLPs are a standard deep learning baseline for tabular classification. They are fast to train, easy to tune, and serve as a fair substrate for comparing optimization methods.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Hyperparameter Optimization Setup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5029200" cy="21945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F1729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Hyperparameter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A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F1729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Search Range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A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F1729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Type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1e-4 — 3e-2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Log-uniform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{16, 32, 64, 128}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Dropout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{0.0, 0.1, 0.2, 0.3, 0.4, 0.5}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 Units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{32, 64, 128, 256}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{adam, rmsprop, sgd}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669280" y="1051560"/>
            <a:ext cx="3108960" cy="1508760"/>
          </a:xfrm>
          <a:prstGeom prst="rect">
            <a:avLst/>
          </a:prstGeom>
          <a:solidFill>
            <a:srgbClr val="1822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Shape 2"/>
          <p:cNvSpPr/>
          <p:nvPr/>
        </p:nvSpPr>
        <p:spPr>
          <a:xfrm>
            <a:off x="5669280" y="1051560"/>
            <a:ext cx="73152" cy="15087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3"/>
          <p:cNvSpPr/>
          <p:nvPr/>
        </p:nvSpPr>
        <p:spPr>
          <a:xfrm>
            <a:off x="589788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Search</a:t>
            </a:r>
            <a:endParaRPr lang="en-US" sz="1400" dirty="0"/>
          </a:p>
        </p:txBody>
      </p:sp>
      <p:sp>
        <p:nvSpPr>
          <p:cNvPr id="3" name="Text 4"/>
          <p:cNvSpPr/>
          <p:nvPr/>
        </p:nvSpPr>
        <p:spPr>
          <a:xfrm>
            <a:off x="5897880" y="1463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trials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897880" y="17373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hyperparameters uniformly at random from the search space. Simple, embarrassingly parallel, provides broad coverage.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669280" y="2743200"/>
            <a:ext cx="3108960" cy="1508760"/>
          </a:xfrm>
          <a:prstGeom prst="rect">
            <a:avLst/>
          </a:prstGeom>
          <a:solidFill>
            <a:srgbClr val="1822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0" name="Shape 7"/>
          <p:cNvSpPr/>
          <p:nvPr/>
        </p:nvSpPr>
        <p:spPr>
          <a:xfrm>
            <a:off x="5669280" y="2743200"/>
            <a:ext cx="73152" cy="15087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1" name="Text 8"/>
          <p:cNvSpPr/>
          <p:nvPr/>
        </p:nvSpPr>
        <p:spPr>
          <a:xfrm>
            <a:off x="5897880" y="2834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Bayesian Optimization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897880" y="3154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trials (Optuna TPE)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897880" y="34290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Tree-structured Parzen Estimator to model promising regions. Each trial informs the next — guided, sequential search.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3496701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seed = 42 for model reproducibility. Both methods share the identical search space and trial budget.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Search vs Bayesian Optimization</a:t>
            </a:r>
            <a:endParaRPr lang="en-US" sz="2600" dirty="0"/>
          </a:p>
        </p:txBody>
      </p:sp>
      <p:pic>
        <p:nvPicPr>
          <p:cNvPr id="3" name="Image 0" descr="/home/claude/ipl_outputs/random_search_converg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14400"/>
            <a:ext cx="4114800" cy="23134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32461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Search — validation ROC-AUC convergence</a:t>
            </a:r>
            <a:endParaRPr lang="en-US" sz="900" dirty="0"/>
          </a:p>
        </p:txBody>
      </p:sp>
      <p:pic>
        <p:nvPicPr>
          <p:cNvPr id="5" name="Image 1" descr="/home/claude/ipl_outputs/optuna_converge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914400"/>
            <a:ext cx="4114800" cy="23134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663440" y="32461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(Bayesian) — validation ROC-AUC convergence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57600"/>
          <a:ext cx="8229600" cy="1295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A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1729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Random Search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A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1729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Bayesian (Optuna)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B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B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173.2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188.0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B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Val 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B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Val ROC-AUC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Hyperparameters Found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097280"/>
          <a:ext cx="7315200" cy="246888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F1729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Hyperparameter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A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F1729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Random Search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A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F1729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Bayesian (Optuna)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B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4.56 × 10⁻⁴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1.97 × 10⁻⁴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B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B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Dropout 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B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 Units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B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RMSProp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794760"/>
            <a:ext cx="4023360" cy="1097280"/>
          </a:xfrm>
          <a:prstGeom prst="rect">
            <a:avLst/>
          </a:prstGeom>
          <a:solidFill>
            <a:srgbClr val="1822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Shape 2"/>
          <p:cNvSpPr/>
          <p:nvPr/>
        </p:nvSpPr>
        <p:spPr>
          <a:xfrm>
            <a:off x="457200" y="3794760"/>
            <a:ext cx="73152" cy="10972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3"/>
          <p:cNvSpPr/>
          <p:nvPr/>
        </p:nvSpPr>
        <p:spPr>
          <a:xfrm>
            <a:off x="685800" y="3840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Search Strategy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85800" y="41605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LR + heavier dropout (0.5) + smaller network (64 units). A lean, regularized model with RMSProp — favors conservative predictions.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663440" y="3794760"/>
            <a:ext cx="4023360" cy="1097280"/>
          </a:xfrm>
          <a:prstGeom prst="rect">
            <a:avLst/>
          </a:prstGeom>
          <a:solidFill>
            <a:srgbClr val="1822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" name="Shape 6"/>
          <p:cNvSpPr/>
          <p:nvPr/>
        </p:nvSpPr>
        <p:spPr>
          <a:xfrm>
            <a:off x="4663440" y="3794760"/>
            <a:ext cx="73152" cy="10972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7"/>
          <p:cNvSpPr/>
          <p:nvPr/>
        </p:nvSpPr>
        <p:spPr>
          <a:xfrm>
            <a:off x="4892040" y="3840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Optuna Strategy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892040" y="41605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LR + lighter dropout (0.2) + larger network (256 units). A capacity-heavy model with SGD — predicts more aggressively, higher recall.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Set Results</a:t>
            </a:r>
            <a:endParaRPr lang="en-US" sz="3200" dirty="0"/>
          </a:p>
        </p:txBody>
      </p:sp>
      <p:pic>
        <p:nvPicPr>
          <p:cNvPr id="3" name="Image 0" descr="/home/claude/ipl_outputs/test_metric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68680"/>
            <a:ext cx="8595360" cy="24688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338328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performance across four models and six metrics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57200" y="3703320"/>
            <a:ext cx="8229600" cy="1234440"/>
          </a:xfrm>
          <a:prstGeom prst="rect">
            <a:avLst/>
          </a:prstGeom>
          <a:solidFill>
            <a:srgbClr val="1822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Text 3"/>
          <p:cNvSpPr/>
          <p:nvPr/>
        </p:nvSpPr>
        <p:spPr>
          <a:xfrm>
            <a:off x="64008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4023360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 (54.3%):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Search MLP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ROC-AUC (0.566) &amp; Log Loss (0.689):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MLP Baseline — best ranking and calibration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F1 (0.578) &amp; Recall (63.5%):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MLP — most aggressive positive-class detection among tuned models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shifted the precision-recall tradeoff rather than producing a universally superior model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 Visuals</a:t>
            </a:r>
            <a:endParaRPr lang="en-US" sz="3200" dirty="0"/>
          </a:p>
        </p:txBody>
      </p:sp>
      <p:pic>
        <p:nvPicPr>
          <p:cNvPr id="3" name="Image 0" descr="/home/claude/ipl_outputs/roc_curves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2926080" cy="2944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38862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Curves — ranking performance</a:t>
            </a:r>
            <a:endParaRPr lang="en-US" sz="900" dirty="0"/>
          </a:p>
        </p:txBody>
      </p:sp>
      <p:pic>
        <p:nvPicPr>
          <p:cNvPr id="5" name="Image 1" descr="/home/claude/ipl_outputs/precision_recall_curves_t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914400"/>
            <a:ext cx="2743200" cy="29443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383280" y="3886200"/>
            <a:ext cx="2743200" cy="197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Precision-Recall Curves</a:t>
            </a:r>
            <a:endParaRPr lang="en-US" sz="900" dirty="0"/>
          </a:p>
        </p:txBody>
      </p:sp>
      <p:pic>
        <p:nvPicPr>
          <p:cNvPr id="7" name="Image 2" descr="/home/claude/ipl_outputs/confusion_matrix_best_random_search_ml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914400"/>
            <a:ext cx="2468880" cy="190195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00800" y="281635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Search CM</a:t>
            </a:r>
            <a:endParaRPr lang="en-US" sz="800" dirty="0"/>
          </a:p>
        </p:txBody>
      </p:sp>
      <p:pic>
        <p:nvPicPr>
          <p:cNvPr id="9" name="Image 3" descr="/home/claude/ipl_outputs/confusion_matrix_best_bayesian_optuna_ml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017520"/>
            <a:ext cx="2468880" cy="190195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400800" y="491947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CM</a:t>
            </a:r>
            <a:endParaRPr lang="en-US" sz="800" dirty="0"/>
          </a:p>
        </p:txBody>
      </p:sp>
      <p:sp>
        <p:nvSpPr>
          <p:cNvPr id="11" name="Shape 5"/>
          <p:cNvSpPr/>
          <p:nvPr/>
        </p:nvSpPr>
        <p:spPr>
          <a:xfrm>
            <a:off x="274320" y="4160520"/>
            <a:ext cx="5852160" cy="822960"/>
          </a:xfrm>
          <a:prstGeom prst="rect">
            <a:avLst/>
          </a:prstGeom>
          <a:solidFill>
            <a:srgbClr val="18224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Text 6"/>
          <p:cNvSpPr/>
          <p:nvPr/>
        </p:nvSpPr>
        <p:spPr>
          <a:xfrm>
            <a:off x="411480" y="420624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MLP predicts positives more aggressively (higher recall). Random Search MLP is more balanced but misses more positives. Baseline shows strongest ROC separation despite lower recall.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6851" y="-228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Optimizer &amp; Regularization</a:t>
            </a:r>
            <a:endParaRPr lang="en-US" sz="2800" dirty="0"/>
          </a:p>
        </p:txBody>
      </p:sp>
      <p:pic>
        <p:nvPicPr>
          <p:cNvPr id="3" name="Image 0" descr="/home/claude/ipl_outputs/ablation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19" y="530176"/>
            <a:ext cx="8079251" cy="26746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333756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comparison (left) and regularization (right) on validation set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61596" y="3716507"/>
            <a:ext cx="4000500" cy="1290711"/>
          </a:xfrm>
          <a:prstGeom prst="rect">
            <a:avLst/>
          </a:prstGeom>
          <a:solidFill>
            <a:srgbClr val="1822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Shape 3"/>
          <p:cNvSpPr/>
          <p:nvPr/>
        </p:nvSpPr>
        <p:spPr>
          <a:xfrm>
            <a:off x="457200" y="3703320"/>
            <a:ext cx="73152" cy="12344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Text 4"/>
          <p:cNvSpPr/>
          <p:nvPr/>
        </p:nvSpPr>
        <p:spPr>
          <a:xfrm>
            <a:off x="685800" y="3749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Optimizer Comparison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" y="4224704"/>
            <a:ext cx="3474720" cy="667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achieved the best validation accuracy (0.564). SGD had the highest recall (0.653) but lowest accuracy (0.485). RMSProp sat between the two. Optimizer choice strongly affects the precision-recall tradeoff.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54879" y="3703320"/>
            <a:ext cx="4000499" cy="1290710"/>
          </a:xfrm>
          <a:prstGeom prst="rect">
            <a:avLst/>
          </a:prstGeom>
          <a:solidFill>
            <a:srgbClr val="1822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0" name="Shape 7"/>
          <p:cNvSpPr/>
          <p:nvPr/>
        </p:nvSpPr>
        <p:spPr>
          <a:xfrm>
            <a:off x="4754880" y="3703320"/>
            <a:ext cx="73152" cy="12344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1" name="Text 8"/>
          <p:cNvSpPr/>
          <p:nvPr/>
        </p:nvSpPr>
        <p:spPr>
          <a:xfrm>
            <a:off x="4983480" y="3749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Regularization 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983480" y="40690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any regularization, recall spikes to 91.7% but accuracy drops to 47.2%. Dropout alone restores balance. Adding weight decay and LR schedule further shifts behavior. Regularization acts as a precision-recall lever.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Explainability (SHAP)</a:t>
            </a:r>
            <a:endParaRPr lang="en-US" sz="3200" dirty="0"/>
          </a:p>
        </p:txBody>
      </p:sp>
      <p:pic>
        <p:nvPicPr>
          <p:cNvPr id="3" name="Image 0" descr="/home/claude/ipl_outputs/shap_global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4023360" cy="3721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46634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SHAP Feature Importance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914400"/>
          <a:ext cx="4297680" cy="2103122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4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1729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Rank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A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1729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Feature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A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F1729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Mean |SHAP|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4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season_start_year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0.0248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4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match_month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4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toss_winner_prior_win_rate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4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team1_is_toss_winner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4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team2_prior_win_rate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4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toss_decision_bat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0" y="301752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 by mean |SHAP| value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4572000" y="3383280"/>
            <a:ext cx="4297680" cy="1703070"/>
          </a:xfrm>
          <a:prstGeom prst="rect">
            <a:avLst/>
          </a:prstGeom>
          <a:solidFill>
            <a:srgbClr val="1822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Text 4"/>
          <p:cNvSpPr/>
          <p:nvPr/>
        </p:nvSpPr>
        <p:spPr>
          <a:xfrm>
            <a:off x="4754880" y="34290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754880" y="379476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season_start_year dominates — acts as a strong temporal proxy in this dataset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match_month ranks 2nd — may reflect scheduling or seasonal effects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toss_winner_prior_win_rate is the top cricket-domain feature — prior form appears most relevant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Red/blue dots in beeswarm show directional impact of high vs low feature values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015B56-FC1D-2FB2-9762-9B4F8CD82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28D4F14-22A5-2198-9844-95F4F0FDD88F}"/>
              </a:ext>
            </a:extLst>
          </p:cNvPr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Explainability (SHAP)</a:t>
            </a:r>
            <a:endParaRPr lang="en-US" sz="32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4ED3202-43E5-CBFE-8088-FF5DC4293B2A}"/>
              </a:ext>
            </a:extLst>
          </p:cNvPr>
          <p:cNvSpPr/>
          <p:nvPr/>
        </p:nvSpPr>
        <p:spPr>
          <a:xfrm>
            <a:off x="274320" y="46634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SHAP Feature Importance</a:t>
            </a:r>
            <a:endParaRPr lang="en-US" sz="9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6A858230-2535-29F4-2CAA-8ED72DB6BAC6}"/>
              </a:ext>
            </a:extLst>
          </p:cNvPr>
          <p:cNvSpPr/>
          <p:nvPr/>
        </p:nvSpPr>
        <p:spPr>
          <a:xfrm>
            <a:off x="4572000" y="301752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 by mean |SHAP| value</a:t>
            </a:r>
            <a:endParaRPr lang="en-US" sz="900"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F870DB93-B61C-DEF9-4C05-FE423A73ECFC}"/>
              </a:ext>
            </a:extLst>
          </p:cNvPr>
          <p:cNvSpPr/>
          <p:nvPr/>
        </p:nvSpPr>
        <p:spPr>
          <a:xfrm>
            <a:off x="4639927" y="1257954"/>
            <a:ext cx="4297680" cy="2164515"/>
          </a:xfrm>
          <a:prstGeom prst="rect">
            <a:avLst/>
          </a:prstGeom>
          <a:solidFill>
            <a:srgbClr val="1822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>
              <a:lnSpc>
                <a:spcPct val="120000"/>
              </a:lnSpc>
              <a:buSzPct val="100000"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Local: </a:t>
            </a: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this match, f(x)=0.504 (near coin-flip). Season year pushed prediction down (−0.01) while toss winner form pushed it up (+0.01) — features nearly cancel out, producing high uncertainty</a:t>
            </a:r>
            <a:r>
              <a:rPr lang="en-US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982218F4-BDDE-BCF1-1054-6A26500E72EB}"/>
              </a:ext>
            </a:extLst>
          </p:cNvPr>
          <p:cNvSpPr/>
          <p:nvPr/>
        </p:nvSpPr>
        <p:spPr>
          <a:xfrm>
            <a:off x="4702629" y="980341"/>
            <a:ext cx="3931920" cy="27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980DA189-27BA-245F-C086-7F70A31BC231}"/>
              </a:ext>
            </a:extLst>
          </p:cNvPr>
          <p:cNvSpPr/>
          <p:nvPr/>
        </p:nvSpPr>
        <p:spPr>
          <a:xfrm>
            <a:off x="4754880" y="3383280"/>
            <a:ext cx="39319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  <a:buSzPct val="100000"/>
            </a:pPr>
            <a:endParaRPr lang="en-US" sz="1000" dirty="0"/>
          </a:p>
        </p:txBody>
      </p:sp>
      <p:pic>
        <p:nvPicPr>
          <p:cNvPr id="5" name="Image 1" descr="/home/claude/ipl_outputs/local_sh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980341"/>
            <a:ext cx="4046873" cy="377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6813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 Analysis &amp; Practical Insights</a:t>
            </a:r>
            <a:endParaRPr lang="en-US" sz="2800" dirty="0"/>
          </a:p>
        </p:txBody>
      </p:sp>
      <p:pic>
        <p:nvPicPr>
          <p:cNvPr id="3" name="Image 0" descr="/home/claude/ipl_outputs/hardest_venues_error_r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8595360" cy="2514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34290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 by venue — higher bars indicate harder-to-predict venues in this test split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57200" y="3794759"/>
            <a:ext cx="8229600" cy="1216855"/>
          </a:xfrm>
          <a:prstGeom prst="rect">
            <a:avLst/>
          </a:prstGeom>
          <a:solidFill>
            <a:srgbClr val="1822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886200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3886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Observations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640080" y="42519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(Arun Jaitley Stadium) has the highest error rate (66.7% over 12 test matches) — appears harder for the model to predict in this split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Venues with fewer test matches (Guwahati, Brabourne: 3 each) show high error rates but with low statistical confidence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achieved highest accuracy at Dharamsala (75%, 4 matches) and Jaipur (70%, 10 matches)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 &amp; Future 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011680"/>
          </a:xfrm>
          <a:prstGeom prst="rect">
            <a:avLst/>
          </a:prstGeom>
          <a:solidFill>
            <a:srgbClr val="1822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972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Summary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155448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Random Search (50 trials) and Bayesian Optimization via Optuna (50 trials) for tuning a Keras MLP on IPL match prediction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methods found fundamentally different architectures — optimization changes model behavior, not just accuracy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model dominated all test metrics: the simple baseline led on ROC-AUC and log loss; tuned models shifted the precision-recall tradeoff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hard prediction task with limited features, tuning reveals tradeoffs rather than guaranteeing universal improvement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3104564"/>
            <a:ext cx="8229600" cy="1783080"/>
          </a:xfrm>
          <a:prstGeom prst="rect">
            <a:avLst/>
          </a:prstGeom>
          <a:solidFill>
            <a:srgbClr val="1C2A4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Text 6"/>
          <p:cNvSpPr/>
          <p:nvPr/>
        </p:nvSpPr>
        <p:spPr>
          <a:xfrm>
            <a:off x="64008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Work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3566160"/>
            <a:ext cx="7772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pre-match features — player-level stats, recent form, weather, pitch reports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tabular models — XGBoost, TabNet, FT-Transformer for comparison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handling of class balance and probability calibration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domain-specific cricket features — head-to-head at specific venues, home advantage metrics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hyperparameter budgets and multi-objective optimization (accuracy + calibration jointly)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1856</Words>
  <Application>Microsoft Office PowerPoint</Application>
  <PresentationFormat>On-screen Show (16:9)</PresentationFormat>
  <Paragraphs>224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 Hyperparameter Optimization for IPL Match Winner Prediction</dc:title>
  <dc:subject>PptxGenJS Presentation</dc:subject>
  <dc:creator>Jagdeep</dc:creator>
  <cp:lastModifiedBy>Jagdeep, Jagdeep</cp:lastModifiedBy>
  <cp:revision>4</cp:revision>
  <dcterms:created xsi:type="dcterms:W3CDTF">2026-04-07T18:36:48Z</dcterms:created>
  <dcterms:modified xsi:type="dcterms:W3CDTF">2026-04-09T02:19:50Z</dcterms:modified>
</cp:coreProperties>
</file>